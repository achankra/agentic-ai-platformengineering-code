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6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851A9"/>
                </a:solidFill>
              </a:defRPr>
            </a:pPr>
            <a:r>
              <a:t>SECTION 2: DEVELOPMENT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D1757"/>
                </a:solidFill>
              </a:defRPr>
            </a:pPr>
            <a:r>
              <a:t>AI-Driven Remediation Patterns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2011680"/>
            <a:ext cx="548640" cy="548640"/>
          </a:xfrm>
          <a:prstGeom prst="ellipse">
            <a:avLst/>
          </a:prstGeom>
          <a:solidFill>
            <a:srgbClr val="8B6F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743200"/>
            <a:ext cx="2560320" cy="2743200"/>
          </a:xfrm>
          <a:prstGeom prst="roundRect">
            <a:avLst/>
          </a:prstGeom>
          <a:solidFill>
            <a:srgbClr val="8B6F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 rIns="182880"/>
          <a:lstStyle/>
          <a:p>
            <a:pPr algn="ctr">
              <a:spcAft>
                <a:spcPts val="1200"/>
              </a:spcAft>
              <a:defRPr sz="2400" b="1">
                <a:solidFill>
                  <a:srgbClr val="FFFFFF"/>
                </a:solidFill>
              </a:defRPr>
            </a:pPr>
            <a:r>
              <a:t>Diagnostic</a:t>
            </a:r>
          </a:p>
          <a:p>
            <a:pPr>
              <a:lnSpc>
                <a:spcPct val="130000"/>
              </a:lnSpc>
              <a:defRPr sz="1400">
                <a:solidFill>
                  <a:srgbClr val="FFFFFF"/>
                </a:solidFill>
              </a:defRPr>
            </a:pPr>
            <a:r>
              <a:t>• Root cause analysis</a:t>
            </a:r>
            <a:br/>
            <a:r>
              <a:t>• Log pattern correlation</a:t>
            </a:r>
            <a:br/>
            <a:r>
              <a:t>• Dependency mapping</a:t>
            </a:r>
          </a:p>
        </p:txBody>
      </p:sp>
      <p:sp>
        <p:nvSpPr>
          <p:cNvPr id="7" name="Oval 6"/>
          <p:cNvSpPr/>
          <p:nvPr/>
        </p:nvSpPr>
        <p:spPr>
          <a:xfrm>
            <a:off x="3474720" y="2011680"/>
            <a:ext cx="548640" cy="548640"/>
          </a:xfrm>
          <a:prstGeom prst="ellipse">
            <a:avLst/>
          </a:prstGeom>
          <a:solidFill>
            <a:srgbClr val="9F8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2743200"/>
            <a:ext cx="2560320" cy="2743200"/>
          </a:xfrm>
          <a:prstGeom prst="roundRect">
            <a:avLst/>
          </a:prstGeom>
          <a:solidFill>
            <a:srgbClr val="9F8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 rIns="182880"/>
          <a:lstStyle/>
          <a:p>
            <a:pPr algn="ctr">
              <a:spcAft>
                <a:spcPts val="1200"/>
              </a:spcAft>
              <a:defRPr sz="2400" b="1">
                <a:solidFill>
                  <a:srgbClr val="FFFFFF"/>
                </a:solidFill>
              </a:defRPr>
            </a:pPr>
            <a:r>
              <a:t>Corrective</a:t>
            </a:r>
          </a:p>
          <a:p>
            <a:pPr>
              <a:lnSpc>
                <a:spcPct val="130000"/>
              </a:lnSpc>
              <a:defRPr sz="1400">
                <a:solidFill>
                  <a:srgbClr val="FFFFFF"/>
                </a:solidFill>
              </a:defRPr>
            </a:pPr>
            <a:r>
              <a:t>• Config adjustments</a:t>
            </a:r>
            <a:br/>
            <a:r>
              <a:t>• Service restarts</a:t>
            </a:r>
            <a:br/>
            <a:r>
              <a:t>• Traffic rerouting</a:t>
            </a:r>
          </a:p>
        </p:txBody>
      </p:sp>
      <p:sp>
        <p:nvSpPr>
          <p:cNvPr id="9" name="Oval 8"/>
          <p:cNvSpPr/>
          <p:nvPr/>
        </p:nvSpPr>
        <p:spPr>
          <a:xfrm>
            <a:off x="6217920" y="2011680"/>
            <a:ext cx="548640" cy="548640"/>
          </a:xfrm>
          <a:prstGeom prst="ellipse">
            <a:avLst/>
          </a:prstGeom>
          <a:solidFill>
            <a:srgbClr val="B3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2743200"/>
            <a:ext cx="2560320" cy="2743200"/>
          </a:xfrm>
          <a:prstGeom prst="roundRect">
            <a:avLst/>
          </a:prstGeom>
          <a:solidFill>
            <a:srgbClr val="B3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 rIns="182880"/>
          <a:lstStyle/>
          <a:p>
            <a:pPr algn="ctr">
              <a:spcAft>
                <a:spcPts val="1200"/>
              </a:spcAft>
              <a:defRPr sz="2400" b="1">
                <a:solidFill>
                  <a:srgbClr val="FFFFFF"/>
                </a:solidFill>
              </a:defRPr>
            </a:pPr>
            <a:r>
              <a:t>Preventive</a:t>
            </a:r>
          </a:p>
          <a:p>
            <a:pPr>
              <a:lnSpc>
                <a:spcPct val="130000"/>
              </a:lnSpc>
              <a:defRPr sz="1400">
                <a:solidFill>
                  <a:srgbClr val="FFFFFF"/>
                </a:solidFill>
              </a:defRPr>
            </a:pPr>
            <a:r>
              <a:t>• Pattern detection</a:t>
            </a:r>
            <a:br/>
            <a:r>
              <a:t>• Policy recommendations</a:t>
            </a:r>
            <a:br/>
            <a:r>
              <a:t>• Automated improvements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2179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B2E83"/>
                </a:solidFill>
              </a:defRPr>
            </a:pPr>
            <a:r>
              <a:t>»Pearson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6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851A9"/>
                </a:solidFill>
              </a:defRPr>
            </a:pPr>
            <a:r>
              <a:t>SECTION 2: DEVELOPMENT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D1757"/>
                </a:solidFill>
              </a:defRPr>
            </a:pPr>
            <a:r>
              <a:t>Automated Rollback Decisions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343400" y="2011680"/>
            <a:ext cx="457200" cy="3657600"/>
          </a:xfrm>
          <a:prstGeom prst="rect">
            <a:avLst/>
          </a:prstGeom>
          <a:solidFill>
            <a:srgbClr val="7851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0" y="365760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3474720" cy="3657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851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/>
          <a:lstStyle/>
          <a:p>
            <a:pPr algn="ctr">
              <a:spcAft>
                <a:spcPts val="1600"/>
              </a:spcAft>
              <a:defRPr sz="2800" b="1">
                <a:solidFill>
                  <a:srgbClr val="2D1757"/>
                </a:solidFill>
              </a:defRPr>
            </a:pPr>
            <a:r>
              <a:t>Traditional Approach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D1757"/>
                </a:solidFill>
              </a:defRPr>
            </a:pPr>
            <a:r>
              <a:t>• Alert fires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D1757"/>
                </a:solidFill>
              </a:defRPr>
            </a:pPr>
            <a:r>
              <a:t>• Engineer investigates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D1757"/>
                </a:solidFill>
              </a:defRPr>
            </a:pPr>
            <a:r>
              <a:t>• Manual correlation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D1757"/>
                </a:solidFill>
              </a:defRPr>
            </a:pPr>
            <a:r>
              <a:t>• Rollback decision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D1757"/>
                </a:solidFill>
              </a:defRPr>
            </a:pPr>
            <a:r>
              <a:t>• Time: 15-30 minutes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12080" y="2011680"/>
            <a:ext cx="3474720" cy="3657600"/>
          </a:xfrm>
          <a:prstGeom prst="roundRect">
            <a:avLst/>
          </a:prstGeom>
          <a:solidFill>
            <a:srgbClr val="8B6F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/>
          <a:lstStyle/>
          <a:p>
            <a:pPr algn="ctr">
              <a:spcAft>
                <a:spcPts val="1600"/>
              </a:spcAft>
              <a:defRPr sz="2800" b="1">
                <a:solidFill>
                  <a:srgbClr val="FFFFFF"/>
                </a:solidFill>
              </a:defRPr>
            </a:pPr>
            <a:r>
              <a:t>AI-Enhanced Approach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Agent monitors deployment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Correlates metrics automatically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Evaluates error patterns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Suggests rollback with rationale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Time: 30-60 seconds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2179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B2E83"/>
                </a:solidFill>
              </a:defRPr>
            </a:pPr>
            <a:r>
              <a:t>»Pearson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6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851A9"/>
                </a:solidFill>
              </a:defRPr>
            </a:pPr>
            <a:r>
              <a:t>SECTION 2: DEVELOPMENT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D1757"/>
                </a:solidFill>
              </a:defRPr>
            </a:pPr>
            <a:r>
              <a:t>Release Readiness Evaluation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103120"/>
            <a:ext cx="3931920" cy="1828800"/>
          </a:xfrm>
          <a:prstGeom prst="roundRect">
            <a:avLst/>
          </a:prstGeom>
          <a:solidFill>
            <a:srgbClr val="8B6F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274320"/>
          <a:lstStyle/>
          <a:p>
            <a:pPr algn="ctr">
              <a:spcAft>
                <a:spcPts val="1200"/>
              </a:spcAft>
              <a:defRPr sz="2400" b="1">
                <a:solidFill>
                  <a:srgbClr val="FFFFFF"/>
                </a:solidFill>
              </a:defRPr>
            </a:pPr>
            <a:r>
              <a:t>Test Coverage</a:t>
            </a:r>
          </a:p>
          <a:p>
            <a:pPr>
              <a:lnSpc>
                <a:spcPct val="130000"/>
              </a:lnSpc>
              <a:defRPr sz="1600">
                <a:solidFill>
                  <a:srgbClr val="FFFFFF"/>
                </a:solidFill>
              </a:defRPr>
            </a:pPr>
            <a:r>
              <a:t>82% coverage</a:t>
            </a:r>
            <a:br/>
            <a:r>
              <a:t>Threshold: 80%</a:t>
            </a:r>
            <a:br/>
            <a:r>
              <a:t>Status: PASS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2103120"/>
            <a:ext cx="3931920" cy="1828800"/>
          </a:xfrm>
          <a:prstGeom prst="roundRect">
            <a:avLst/>
          </a:prstGeom>
          <a:solidFill>
            <a:srgbClr val="9F8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274320"/>
          <a:lstStyle/>
          <a:p>
            <a:pPr algn="ctr">
              <a:spcAft>
                <a:spcPts val="1200"/>
              </a:spcAft>
              <a:defRPr sz="2400" b="1">
                <a:solidFill>
                  <a:srgbClr val="FFFFFF"/>
                </a:solidFill>
              </a:defRPr>
            </a:pPr>
            <a:r>
              <a:t>Performance</a:t>
            </a:r>
          </a:p>
          <a:p>
            <a:pPr>
              <a:lnSpc>
                <a:spcPct val="130000"/>
              </a:lnSpc>
              <a:defRPr sz="1600">
                <a:solidFill>
                  <a:srgbClr val="FFFFFF"/>
                </a:solidFill>
              </a:defRPr>
            </a:pPr>
            <a:r>
              <a:t>P95: +8% increase</a:t>
            </a:r>
            <a:br/>
            <a:r>
              <a:t>Threshold: &lt;10%</a:t>
            </a:r>
            <a:br/>
            <a:r>
              <a:t>Status: PASS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206240"/>
            <a:ext cx="3931920" cy="1828800"/>
          </a:xfrm>
          <a:prstGeom prst="roundRect">
            <a:avLst/>
          </a:prstGeom>
          <a:solidFill>
            <a:srgbClr val="B3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274320"/>
          <a:lstStyle/>
          <a:p>
            <a:pPr algn="ctr">
              <a:spcAft>
                <a:spcPts val="1200"/>
              </a:spcAft>
              <a:defRPr sz="2400" b="1">
                <a:solidFill>
                  <a:srgbClr val="FFFFFF"/>
                </a:solidFill>
              </a:defRPr>
            </a:pPr>
            <a:r>
              <a:t>Security</a:t>
            </a:r>
          </a:p>
          <a:p>
            <a:pPr>
              <a:lnSpc>
                <a:spcPct val="130000"/>
              </a:lnSpc>
              <a:defRPr sz="1600">
                <a:solidFill>
                  <a:srgbClr val="FFFFFF"/>
                </a:solidFill>
              </a:defRPr>
            </a:pPr>
            <a:r>
              <a:t>3 high severity</a:t>
            </a:r>
            <a:br/>
            <a:r>
              <a:t>Threshold: &lt;5</a:t>
            </a:r>
            <a:br/>
            <a:r>
              <a:t>Status: PASS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4206240"/>
            <a:ext cx="3931920" cy="1828800"/>
          </a:xfrm>
          <a:prstGeom prst="roundRect">
            <a:avLst/>
          </a:prstGeom>
          <a:solidFill>
            <a:srgbClr val="C7A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274320"/>
          <a:lstStyle/>
          <a:p>
            <a:pPr algn="ctr">
              <a:spcAft>
                <a:spcPts val="1200"/>
              </a:spcAft>
              <a:defRPr sz="2400" b="1">
                <a:solidFill>
                  <a:srgbClr val="FFFFFF"/>
                </a:solidFill>
              </a:defRPr>
            </a:pPr>
            <a:r>
              <a:t>Complexity</a:t>
            </a:r>
          </a:p>
          <a:p>
            <a:pPr>
              <a:lnSpc>
                <a:spcPct val="130000"/>
              </a:lnSpc>
              <a:defRPr sz="1600">
                <a:solidFill>
                  <a:srgbClr val="FFFFFF"/>
                </a:solidFill>
              </a:defRPr>
            </a:pPr>
            <a:r>
              <a:t>Score: 8.2</a:t>
            </a:r>
            <a:br/>
            <a:r>
              <a:t>Threshold: &lt;10</a:t>
            </a:r>
            <a:br/>
            <a:r>
              <a:t>Status: PASS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2179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B2E83"/>
                </a:solidFill>
              </a:defRPr>
            </a:pPr>
            <a:r>
              <a:t>»Pearson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6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851A9"/>
                </a:solidFill>
              </a:defRPr>
            </a:pPr>
            <a:r>
              <a:t>SECTION 2: DEVELOPMENT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D1757"/>
                </a:solidFill>
              </a:defRPr>
            </a:pPr>
            <a:r>
              <a:t>Conversational Operations Interfaces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286000"/>
            <a:ext cx="1828800" cy="731520"/>
          </a:xfrm>
          <a:prstGeom prst="rect">
            <a:avLst/>
          </a:prstGeom>
          <a:solidFill>
            <a:srgbClr val="7851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Ask</a:t>
            </a:r>
          </a:p>
          <a:p>
            <a:r>
              <a:t>Questions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108960"/>
            <a:ext cx="1828800" cy="2011680"/>
          </a:xfrm>
          <a:prstGeom prst="roundRect">
            <a:avLst/>
          </a:prstGeom>
          <a:solidFill>
            <a:srgbClr val="9F8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82880" lIns="182880"/>
          <a:lstStyle/>
          <a:p>
            <a:pPr algn="ctr">
              <a:lnSpc>
                <a:spcPct val="140000"/>
              </a:lnSpc>
              <a:defRPr sz="1300">
                <a:solidFill>
                  <a:srgbClr val="FFFFFF"/>
                </a:solidFill>
              </a:defRPr>
            </a:pPr>
            <a:r>
              <a:t>Why did deployment fail?</a:t>
            </a:r>
            <a:br/>
            <a:br/>
            <a:r>
              <a:t>What's the error rate trend?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2560320"/>
            <a:ext cx="18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7851A9"/>
                </a:solidFill>
              </a:defRPr>
            </a:pPr>
            <a: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0" y="2286000"/>
            <a:ext cx="1828800" cy="731520"/>
          </a:xfrm>
          <a:prstGeom prst="rect">
            <a:avLst/>
          </a:prstGeom>
          <a:solidFill>
            <a:srgbClr val="7851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Get</a:t>
            </a:r>
          </a:p>
          <a:p>
            <a:r>
              <a:t>Explanations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60320" y="3108960"/>
            <a:ext cx="1828800" cy="2011680"/>
          </a:xfrm>
          <a:prstGeom prst="roundRect">
            <a:avLst/>
          </a:prstGeom>
          <a:solidFill>
            <a:srgbClr val="9F8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82880" lIns="182880"/>
          <a:lstStyle/>
          <a:p>
            <a:pPr algn="ctr">
              <a:lnSpc>
                <a:spcPct val="140000"/>
              </a:lnSpc>
              <a:defRPr sz="1300">
                <a:solidFill>
                  <a:srgbClr val="FFFFFF"/>
                </a:solidFill>
              </a:defRPr>
            </a:pPr>
            <a:r>
              <a:t>Explain this metric spike</a:t>
            </a:r>
            <a:br/>
            <a:br/>
            <a:r>
              <a:t>Compare to last release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560320"/>
            <a:ext cx="18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7851A9"/>
                </a:solidFill>
              </a:defRPr>
            </a:pPr>
            <a: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63440" y="2286000"/>
            <a:ext cx="1828800" cy="731520"/>
          </a:xfrm>
          <a:prstGeom prst="rect">
            <a:avLst/>
          </a:prstGeom>
          <a:solidFill>
            <a:srgbClr val="7851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Request</a:t>
            </a:r>
          </a:p>
          <a:p>
            <a:r>
              <a:t>Actions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3108960"/>
            <a:ext cx="1828800" cy="2011680"/>
          </a:xfrm>
          <a:prstGeom prst="roundRect">
            <a:avLst/>
          </a:prstGeom>
          <a:solidFill>
            <a:srgbClr val="9F8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82880" lIns="182880"/>
          <a:lstStyle/>
          <a:p>
            <a:pPr algn="ctr">
              <a:lnSpc>
                <a:spcPct val="140000"/>
              </a:lnSpc>
              <a:defRPr sz="1300">
                <a:solidFill>
                  <a:srgbClr val="FFFFFF"/>
                </a:solidFill>
              </a:defRPr>
            </a:pPr>
            <a:r>
              <a:t>Roll back this deployment</a:t>
            </a:r>
            <a:br/>
            <a:br/>
            <a:r>
              <a:t>Scale up service 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79" y="2560320"/>
            <a:ext cx="18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7851A9"/>
                </a:solidFill>
              </a:defRPr>
            </a:pPr>
            <a: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66559" y="2286000"/>
            <a:ext cx="1828800" cy="731520"/>
          </a:xfrm>
          <a:prstGeom prst="rect">
            <a:avLst/>
          </a:prstGeom>
          <a:solidFill>
            <a:srgbClr val="7851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Review</a:t>
            </a:r>
          </a:p>
          <a:p>
            <a:r>
              <a:t>History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66559" y="3108960"/>
            <a:ext cx="1828800" cy="2011680"/>
          </a:xfrm>
          <a:prstGeom prst="roundRect">
            <a:avLst/>
          </a:prstGeom>
          <a:solidFill>
            <a:srgbClr val="9F8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82880" lIns="182880"/>
          <a:lstStyle/>
          <a:p>
            <a:pPr algn="ctr">
              <a:lnSpc>
                <a:spcPct val="140000"/>
              </a:lnSpc>
              <a:defRPr sz="1300">
                <a:solidFill>
                  <a:srgbClr val="FFFFFF"/>
                </a:solidFill>
              </a:defRPr>
            </a:pPr>
            <a:r>
              <a:t>Show recent rollbacks</a:t>
            </a:r>
            <a:br/>
            <a:br/>
            <a:r>
              <a:t>What changed yesterday?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2179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B2E83"/>
                </a:solidFill>
              </a:defRPr>
            </a:pPr>
            <a:r>
              <a:t>»Pearson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